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04" autoAdjust="0"/>
    <p:restoredTop sz="94586" autoAdjust="0"/>
  </p:normalViewPr>
  <p:slideViewPr>
    <p:cSldViewPr>
      <p:cViewPr varScale="1">
        <p:scale>
          <a:sx n="82" d="100"/>
          <a:sy n="82" d="100"/>
        </p:scale>
        <p:origin x="208" y="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02.12.2025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3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12/2/25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11" Type="http://schemas.openxmlformats.org/officeDocument/2006/relationships/image" Target="../media/image16.svg"/><Relationship Id="rId5" Type="http://schemas.openxmlformats.org/officeDocument/2006/relationships/image" Target="../media/image10.svg"/><Relationship Id="rId10" Type="http://schemas.openxmlformats.org/officeDocument/2006/relationships/image" Target="../media/image15.png"/><Relationship Id="rId4" Type="http://schemas.openxmlformats.org/officeDocument/2006/relationships/image" Target="../media/image9.png"/><Relationship Id="rId9" Type="http://schemas.openxmlformats.org/officeDocument/2006/relationships/image" Target="../media/image1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" name="Group 6"/>
          <p:cNvGrpSpPr>
            <a:grpSpLocks noChangeAspect="1"/>
          </p:cNvGrpSpPr>
          <p:nvPr/>
        </p:nvGrpSpPr>
        <p:grpSpPr>
          <a:xfrm>
            <a:off x="24284" y="22860"/>
            <a:ext cx="6858000" cy="10287000"/>
            <a:chOff x="0" y="0"/>
            <a:chExt cx="9144000" cy="13716000"/>
          </a:xfrm>
        </p:grpSpPr>
        <p:sp>
          <p:nvSpPr>
            <p:cNvPr id="7" name="Freeform 7" descr="preencoded.png"/>
            <p:cNvSpPr/>
            <p:nvPr/>
          </p:nvSpPr>
          <p:spPr>
            <a:xfrm>
              <a:off x="0" y="0"/>
              <a:ext cx="9144000" cy="13716000"/>
            </a:xfrm>
            <a:custGeom>
              <a:avLst/>
              <a:gdLst/>
              <a:ahLst/>
              <a:cxnLst/>
              <a:rect l="l" t="t" r="r" b="b"/>
              <a:pathLst>
                <a:path w="9144000" h="13716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7937747" y="827782"/>
            <a:ext cx="8826401" cy="90115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944"/>
              </a:lnSpc>
            </a:pPr>
            <a:r>
              <a:rPr lang="en-US" sz="5512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ML for AML Detection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7937747" y="1950095"/>
            <a:ext cx="9270504" cy="12682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Modern anti-money laundering (AML) systems face a critical challenge: detecting both known fraud patterns and emerging threats. Traditional supervised models excel at identifying familiar patterns but struggle with novel attack vectors.</a:t>
            </a:r>
          </a:p>
        </p:txBody>
      </p:sp>
      <p:grpSp>
        <p:nvGrpSpPr>
          <p:cNvPr id="10" name="Group 10"/>
          <p:cNvGrpSpPr/>
          <p:nvPr/>
        </p:nvGrpSpPr>
        <p:grpSpPr>
          <a:xfrm>
            <a:off x="7932985" y="3888581"/>
            <a:ext cx="4521399" cy="3030736"/>
            <a:chOff x="0" y="0"/>
            <a:chExt cx="6028532" cy="4040982"/>
          </a:xfrm>
        </p:grpSpPr>
        <p:sp>
          <p:nvSpPr>
            <p:cNvPr id="11" name="Freeform 11"/>
            <p:cNvSpPr/>
            <p:nvPr/>
          </p:nvSpPr>
          <p:spPr>
            <a:xfrm>
              <a:off x="6350" y="6350"/>
              <a:ext cx="6015736" cy="4028186"/>
            </a:xfrm>
            <a:custGeom>
              <a:avLst/>
              <a:gdLst/>
              <a:ahLst/>
              <a:cxnLst/>
              <a:rect l="l" t="t" r="r" b="b"/>
              <a:pathLst>
                <a:path w="6015736" h="4028186">
                  <a:moveTo>
                    <a:pt x="0" y="138176"/>
                  </a:moveTo>
                  <a:cubicBezTo>
                    <a:pt x="0" y="61849"/>
                    <a:pt x="61976" y="0"/>
                    <a:pt x="138303" y="0"/>
                  </a:cubicBezTo>
                  <a:lnTo>
                    <a:pt x="5877433" y="0"/>
                  </a:lnTo>
                  <a:cubicBezTo>
                    <a:pt x="5953887" y="0"/>
                    <a:pt x="6015736" y="61849"/>
                    <a:pt x="6015736" y="138176"/>
                  </a:cubicBezTo>
                  <a:lnTo>
                    <a:pt x="6015736" y="3890010"/>
                  </a:lnTo>
                  <a:cubicBezTo>
                    <a:pt x="6015736" y="3966337"/>
                    <a:pt x="5953760" y="4028186"/>
                    <a:pt x="5877433" y="4028186"/>
                  </a:cubicBezTo>
                  <a:lnTo>
                    <a:pt x="138303" y="4028186"/>
                  </a:lnTo>
                  <a:cubicBezTo>
                    <a:pt x="61976" y="4028313"/>
                    <a:pt x="0" y="3966464"/>
                    <a:pt x="0" y="3890010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Freeform 12"/>
            <p:cNvSpPr/>
            <p:nvPr/>
          </p:nvSpPr>
          <p:spPr>
            <a:xfrm>
              <a:off x="0" y="0"/>
              <a:ext cx="6028436" cy="4040886"/>
            </a:xfrm>
            <a:custGeom>
              <a:avLst/>
              <a:gdLst/>
              <a:ahLst/>
              <a:cxnLst/>
              <a:rect l="l" t="t" r="r" b="b"/>
              <a:pathLst>
                <a:path w="6028436" h="4040886">
                  <a:moveTo>
                    <a:pt x="0" y="144526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5883783" y="0"/>
                  </a:lnTo>
                  <a:lnTo>
                    <a:pt x="5883783" y="6350"/>
                  </a:lnTo>
                  <a:lnTo>
                    <a:pt x="5883783" y="0"/>
                  </a:lnTo>
                  <a:cubicBezTo>
                    <a:pt x="5963666" y="0"/>
                    <a:pt x="6028436" y="64770"/>
                    <a:pt x="6028436" y="144526"/>
                  </a:cubicBezTo>
                  <a:lnTo>
                    <a:pt x="6022086" y="144526"/>
                  </a:lnTo>
                  <a:lnTo>
                    <a:pt x="6028436" y="144526"/>
                  </a:lnTo>
                  <a:lnTo>
                    <a:pt x="6028436" y="3896360"/>
                  </a:lnTo>
                  <a:lnTo>
                    <a:pt x="6022086" y="3896360"/>
                  </a:lnTo>
                  <a:lnTo>
                    <a:pt x="6028436" y="3896360"/>
                  </a:lnTo>
                  <a:cubicBezTo>
                    <a:pt x="6028436" y="3976243"/>
                    <a:pt x="5963666" y="4040886"/>
                    <a:pt x="5883783" y="4040886"/>
                  </a:cubicBezTo>
                  <a:lnTo>
                    <a:pt x="5883783" y="4034536"/>
                  </a:lnTo>
                  <a:lnTo>
                    <a:pt x="5883783" y="4040886"/>
                  </a:lnTo>
                  <a:lnTo>
                    <a:pt x="144653" y="4040886"/>
                  </a:lnTo>
                  <a:lnTo>
                    <a:pt x="144653" y="4034536"/>
                  </a:lnTo>
                  <a:lnTo>
                    <a:pt x="144653" y="4040886"/>
                  </a:lnTo>
                  <a:cubicBezTo>
                    <a:pt x="64770" y="4041013"/>
                    <a:pt x="0" y="3976243"/>
                    <a:pt x="0" y="3896360"/>
                  </a:cubicBezTo>
                  <a:lnTo>
                    <a:pt x="0" y="144526"/>
                  </a:lnTo>
                  <a:lnTo>
                    <a:pt x="6350" y="144526"/>
                  </a:lnTo>
                  <a:lnTo>
                    <a:pt x="0" y="144526"/>
                  </a:lnTo>
                  <a:moveTo>
                    <a:pt x="12700" y="144526"/>
                  </a:moveTo>
                  <a:lnTo>
                    <a:pt x="12700" y="3896360"/>
                  </a:lnTo>
                  <a:lnTo>
                    <a:pt x="6350" y="3896360"/>
                  </a:lnTo>
                  <a:lnTo>
                    <a:pt x="12700" y="3896360"/>
                  </a:lnTo>
                  <a:cubicBezTo>
                    <a:pt x="12700" y="3969131"/>
                    <a:pt x="71755" y="4028186"/>
                    <a:pt x="144653" y="4028186"/>
                  </a:cubicBezTo>
                  <a:lnTo>
                    <a:pt x="5883783" y="4028186"/>
                  </a:lnTo>
                  <a:cubicBezTo>
                    <a:pt x="5956681" y="4028186"/>
                    <a:pt x="6015736" y="3969131"/>
                    <a:pt x="6015736" y="3896360"/>
                  </a:cubicBezTo>
                  <a:lnTo>
                    <a:pt x="6015736" y="144526"/>
                  </a:lnTo>
                  <a:cubicBezTo>
                    <a:pt x="6015863" y="71755"/>
                    <a:pt x="5956681" y="12700"/>
                    <a:pt x="5883783" y="12700"/>
                  </a:cubicBezTo>
                  <a:lnTo>
                    <a:pt x="144653" y="12700"/>
                  </a:lnTo>
                  <a:lnTo>
                    <a:pt x="144653" y="6350"/>
                  </a:lnTo>
                  <a:lnTo>
                    <a:pt x="144653" y="12700"/>
                  </a:lnTo>
                  <a:cubicBezTo>
                    <a:pt x="71755" y="12700"/>
                    <a:pt x="12700" y="71755"/>
                    <a:pt x="12700" y="144526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TextBox 13"/>
          <p:cNvSpPr txBox="1"/>
          <p:nvPr/>
        </p:nvSpPr>
        <p:spPr>
          <a:xfrm>
            <a:off x="8194030" y="4111526"/>
            <a:ext cx="2715146" cy="42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5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Supervised Learning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194030" y="4597599"/>
            <a:ext cx="3999309" cy="169689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Achieves 87% accuracy on known patterns but misses 75% of actual fraud cases due to class imbalance and limited training examples.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2691616" y="3888581"/>
            <a:ext cx="4521399" cy="3030736"/>
            <a:chOff x="0" y="0"/>
            <a:chExt cx="6028532" cy="4040982"/>
          </a:xfrm>
        </p:grpSpPr>
        <p:sp>
          <p:nvSpPr>
            <p:cNvPr id="16" name="Freeform 16"/>
            <p:cNvSpPr/>
            <p:nvPr/>
          </p:nvSpPr>
          <p:spPr>
            <a:xfrm>
              <a:off x="6350" y="6350"/>
              <a:ext cx="6015736" cy="4028186"/>
            </a:xfrm>
            <a:custGeom>
              <a:avLst/>
              <a:gdLst/>
              <a:ahLst/>
              <a:cxnLst/>
              <a:rect l="l" t="t" r="r" b="b"/>
              <a:pathLst>
                <a:path w="6015736" h="4028186">
                  <a:moveTo>
                    <a:pt x="0" y="138176"/>
                  </a:moveTo>
                  <a:cubicBezTo>
                    <a:pt x="0" y="61849"/>
                    <a:pt x="61976" y="0"/>
                    <a:pt x="138303" y="0"/>
                  </a:cubicBezTo>
                  <a:lnTo>
                    <a:pt x="5877433" y="0"/>
                  </a:lnTo>
                  <a:cubicBezTo>
                    <a:pt x="5953887" y="0"/>
                    <a:pt x="6015736" y="61849"/>
                    <a:pt x="6015736" y="138176"/>
                  </a:cubicBezTo>
                  <a:lnTo>
                    <a:pt x="6015736" y="3890010"/>
                  </a:lnTo>
                  <a:cubicBezTo>
                    <a:pt x="6015736" y="3966337"/>
                    <a:pt x="5953760" y="4028186"/>
                    <a:pt x="5877433" y="4028186"/>
                  </a:cubicBezTo>
                  <a:lnTo>
                    <a:pt x="138303" y="4028186"/>
                  </a:lnTo>
                  <a:cubicBezTo>
                    <a:pt x="61976" y="4028313"/>
                    <a:pt x="0" y="3966464"/>
                    <a:pt x="0" y="3890010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Freeform 17"/>
            <p:cNvSpPr/>
            <p:nvPr/>
          </p:nvSpPr>
          <p:spPr>
            <a:xfrm>
              <a:off x="0" y="0"/>
              <a:ext cx="6028436" cy="4040886"/>
            </a:xfrm>
            <a:custGeom>
              <a:avLst/>
              <a:gdLst/>
              <a:ahLst/>
              <a:cxnLst/>
              <a:rect l="l" t="t" r="r" b="b"/>
              <a:pathLst>
                <a:path w="6028436" h="4040886">
                  <a:moveTo>
                    <a:pt x="0" y="144526"/>
                  </a:moveTo>
                  <a:cubicBezTo>
                    <a:pt x="0" y="64770"/>
                    <a:pt x="64770" y="0"/>
                    <a:pt x="144653" y="0"/>
                  </a:cubicBezTo>
                  <a:lnTo>
                    <a:pt x="5883783" y="0"/>
                  </a:lnTo>
                  <a:lnTo>
                    <a:pt x="5883783" y="6350"/>
                  </a:lnTo>
                  <a:lnTo>
                    <a:pt x="5883783" y="0"/>
                  </a:lnTo>
                  <a:cubicBezTo>
                    <a:pt x="5963666" y="0"/>
                    <a:pt x="6028436" y="64770"/>
                    <a:pt x="6028436" y="144526"/>
                  </a:cubicBezTo>
                  <a:lnTo>
                    <a:pt x="6022086" y="144526"/>
                  </a:lnTo>
                  <a:lnTo>
                    <a:pt x="6028436" y="144526"/>
                  </a:lnTo>
                  <a:lnTo>
                    <a:pt x="6028436" y="3896360"/>
                  </a:lnTo>
                  <a:lnTo>
                    <a:pt x="6022086" y="3896360"/>
                  </a:lnTo>
                  <a:lnTo>
                    <a:pt x="6028436" y="3896360"/>
                  </a:lnTo>
                  <a:cubicBezTo>
                    <a:pt x="6028436" y="3976243"/>
                    <a:pt x="5963666" y="4040886"/>
                    <a:pt x="5883783" y="4040886"/>
                  </a:cubicBezTo>
                  <a:lnTo>
                    <a:pt x="5883783" y="4034536"/>
                  </a:lnTo>
                  <a:lnTo>
                    <a:pt x="5883783" y="4040886"/>
                  </a:lnTo>
                  <a:lnTo>
                    <a:pt x="144653" y="4040886"/>
                  </a:lnTo>
                  <a:lnTo>
                    <a:pt x="144653" y="4034536"/>
                  </a:lnTo>
                  <a:lnTo>
                    <a:pt x="144653" y="4040886"/>
                  </a:lnTo>
                  <a:cubicBezTo>
                    <a:pt x="64770" y="4041013"/>
                    <a:pt x="0" y="3976243"/>
                    <a:pt x="0" y="3896360"/>
                  </a:cubicBezTo>
                  <a:lnTo>
                    <a:pt x="0" y="144526"/>
                  </a:lnTo>
                  <a:lnTo>
                    <a:pt x="6350" y="144526"/>
                  </a:lnTo>
                  <a:lnTo>
                    <a:pt x="0" y="144526"/>
                  </a:lnTo>
                  <a:moveTo>
                    <a:pt x="12700" y="144526"/>
                  </a:moveTo>
                  <a:lnTo>
                    <a:pt x="12700" y="3896360"/>
                  </a:lnTo>
                  <a:lnTo>
                    <a:pt x="6350" y="3896360"/>
                  </a:lnTo>
                  <a:lnTo>
                    <a:pt x="12700" y="3896360"/>
                  </a:lnTo>
                  <a:cubicBezTo>
                    <a:pt x="12700" y="3969131"/>
                    <a:pt x="71755" y="4028186"/>
                    <a:pt x="144653" y="4028186"/>
                  </a:cubicBezTo>
                  <a:lnTo>
                    <a:pt x="5883783" y="4028186"/>
                  </a:lnTo>
                  <a:cubicBezTo>
                    <a:pt x="5956681" y="4028186"/>
                    <a:pt x="6015736" y="3969131"/>
                    <a:pt x="6015736" y="3896360"/>
                  </a:cubicBezTo>
                  <a:lnTo>
                    <a:pt x="6015736" y="144526"/>
                  </a:lnTo>
                  <a:cubicBezTo>
                    <a:pt x="6015863" y="71755"/>
                    <a:pt x="5956681" y="12700"/>
                    <a:pt x="5883783" y="12700"/>
                  </a:cubicBezTo>
                  <a:lnTo>
                    <a:pt x="144653" y="12700"/>
                  </a:lnTo>
                  <a:lnTo>
                    <a:pt x="144653" y="6350"/>
                  </a:lnTo>
                  <a:lnTo>
                    <a:pt x="144653" y="12700"/>
                  </a:lnTo>
                  <a:cubicBezTo>
                    <a:pt x="71755" y="12700"/>
                    <a:pt x="12700" y="71755"/>
                    <a:pt x="12700" y="144526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952660" y="4111526"/>
            <a:ext cx="3150989" cy="42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5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Unsupervised Detection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952660" y="4597599"/>
            <a:ext cx="3999309" cy="21255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Catches 62.5% of fraud by identifying anomalies in transaction behavior—critical for detecting previously unseen laundering techniques.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7932985" y="7156549"/>
            <a:ext cx="9280029" cy="2240756"/>
            <a:chOff x="0" y="0"/>
            <a:chExt cx="12373372" cy="2987675"/>
          </a:xfrm>
        </p:grpSpPr>
        <p:sp>
          <p:nvSpPr>
            <p:cNvPr id="21" name="Freeform 21"/>
            <p:cNvSpPr/>
            <p:nvPr/>
          </p:nvSpPr>
          <p:spPr>
            <a:xfrm>
              <a:off x="6350" y="6350"/>
              <a:ext cx="12360656" cy="2974975"/>
            </a:xfrm>
            <a:custGeom>
              <a:avLst/>
              <a:gdLst/>
              <a:ahLst/>
              <a:cxnLst/>
              <a:rect l="l" t="t" r="r" b="b"/>
              <a:pathLst>
                <a:path w="12360656" h="2974975">
                  <a:moveTo>
                    <a:pt x="0" y="138176"/>
                  </a:moveTo>
                  <a:cubicBezTo>
                    <a:pt x="0" y="61849"/>
                    <a:pt x="62103" y="0"/>
                    <a:pt x="138684" y="0"/>
                  </a:cubicBezTo>
                  <a:lnTo>
                    <a:pt x="12221972" y="0"/>
                  </a:lnTo>
                  <a:cubicBezTo>
                    <a:pt x="12298553" y="0"/>
                    <a:pt x="12360656" y="61849"/>
                    <a:pt x="12360656" y="138176"/>
                  </a:cubicBezTo>
                  <a:lnTo>
                    <a:pt x="12360656" y="2836799"/>
                  </a:lnTo>
                  <a:cubicBezTo>
                    <a:pt x="12360656" y="2913126"/>
                    <a:pt x="12298553" y="2974975"/>
                    <a:pt x="12221972" y="2974975"/>
                  </a:cubicBezTo>
                  <a:lnTo>
                    <a:pt x="138684" y="2974975"/>
                  </a:lnTo>
                  <a:cubicBezTo>
                    <a:pt x="62103" y="2974975"/>
                    <a:pt x="0" y="2913126"/>
                    <a:pt x="0" y="2836799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Freeform 22"/>
            <p:cNvSpPr/>
            <p:nvPr/>
          </p:nvSpPr>
          <p:spPr>
            <a:xfrm>
              <a:off x="0" y="0"/>
              <a:ext cx="12373356" cy="2987675"/>
            </a:xfrm>
            <a:custGeom>
              <a:avLst/>
              <a:gdLst/>
              <a:ahLst/>
              <a:cxnLst/>
              <a:rect l="l" t="t" r="r" b="b"/>
              <a:pathLst>
                <a:path w="12373356" h="2987675">
                  <a:moveTo>
                    <a:pt x="0" y="144526"/>
                  </a:moveTo>
                  <a:cubicBezTo>
                    <a:pt x="0" y="64643"/>
                    <a:pt x="64897" y="0"/>
                    <a:pt x="145034" y="0"/>
                  </a:cubicBezTo>
                  <a:lnTo>
                    <a:pt x="12228322" y="0"/>
                  </a:lnTo>
                  <a:lnTo>
                    <a:pt x="12228322" y="6350"/>
                  </a:lnTo>
                  <a:lnTo>
                    <a:pt x="12228322" y="0"/>
                  </a:lnTo>
                  <a:cubicBezTo>
                    <a:pt x="12308332" y="0"/>
                    <a:pt x="12373356" y="64643"/>
                    <a:pt x="12373356" y="144526"/>
                  </a:cubicBezTo>
                  <a:lnTo>
                    <a:pt x="12367006" y="144526"/>
                  </a:lnTo>
                  <a:lnTo>
                    <a:pt x="12373356" y="144526"/>
                  </a:lnTo>
                  <a:lnTo>
                    <a:pt x="12373356" y="2843149"/>
                  </a:lnTo>
                  <a:lnTo>
                    <a:pt x="12367006" y="2843149"/>
                  </a:lnTo>
                  <a:lnTo>
                    <a:pt x="12373356" y="2843149"/>
                  </a:lnTo>
                  <a:cubicBezTo>
                    <a:pt x="12373356" y="2923032"/>
                    <a:pt x="12308459" y="2987675"/>
                    <a:pt x="12228322" y="2987675"/>
                  </a:cubicBezTo>
                  <a:lnTo>
                    <a:pt x="12228322" y="2981325"/>
                  </a:lnTo>
                  <a:lnTo>
                    <a:pt x="12228322" y="2987675"/>
                  </a:lnTo>
                  <a:lnTo>
                    <a:pt x="145034" y="2987675"/>
                  </a:lnTo>
                  <a:lnTo>
                    <a:pt x="145034" y="2981325"/>
                  </a:lnTo>
                  <a:lnTo>
                    <a:pt x="145034" y="2987675"/>
                  </a:lnTo>
                  <a:cubicBezTo>
                    <a:pt x="64897" y="2987675"/>
                    <a:pt x="0" y="2923032"/>
                    <a:pt x="0" y="2843149"/>
                  </a:cubicBezTo>
                  <a:lnTo>
                    <a:pt x="0" y="144526"/>
                  </a:lnTo>
                  <a:lnTo>
                    <a:pt x="6350" y="144526"/>
                  </a:lnTo>
                  <a:lnTo>
                    <a:pt x="0" y="144526"/>
                  </a:lnTo>
                  <a:moveTo>
                    <a:pt x="12700" y="144526"/>
                  </a:moveTo>
                  <a:lnTo>
                    <a:pt x="12700" y="2843149"/>
                  </a:lnTo>
                  <a:lnTo>
                    <a:pt x="6350" y="2843149"/>
                  </a:lnTo>
                  <a:lnTo>
                    <a:pt x="12700" y="2843149"/>
                  </a:lnTo>
                  <a:cubicBezTo>
                    <a:pt x="12700" y="2915920"/>
                    <a:pt x="71882" y="2974975"/>
                    <a:pt x="145034" y="2974975"/>
                  </a:cubicBezTo>
                  <a:lnTo>
                    <a:pt x="12228322" y="2974975"/>
                  </a:lnTo>
                  <a:cubicBezTo>
                    <a:pt x="12301474" y="2974975"/>
                    <a:pt x="12360656" y="2915920"/>
                    <a:pt x="12360656" y="2843149"/>
                  </a:cubicBezTo>
                  <a:lnTo>
                    <a:pt x="12360656" y="144526"/>
                  </a:lnTo>
                  <a:cubicBezTo>
                    <a:pt x="12360656" y="71755"/>
                    <a:pt x="12301474" y="12700"/>
                    <a:pt x="12228322" y="12700"/>
                  </a:cubicBezTo>
                  <a:lnTo>
                    <a:pt x="145034" y="12700"/>
                  </a:lnTo>
                  <a:lnTo>
                    <a:pt x="145034" y="6350"/>
                  </a:lnTo>
                  <a:lnTo>
                    <a:pt x="145034" y="12700"/>
                  </a:lnTo>
                  <a:cubicBezTo>
                    <a:pt x="71882" y="12700"/>
                    <a:pt x="12700" y="71755"/>
                    <a:pt x="12700" y="144526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8194030" y="7379494"/>
            <a:ext cx="2297460" cy="42702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252"/>
              </a:lnSpc>
            </a:pPr>
            <a:r>
              <a:rPr lang="en-US" sz="25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Hybrid Approach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8194030" y="7865566"/>
            <a:ext cx="8757940" cy="8396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78"/>
              </a:lnSpc>
            </a:pPr>
            <a:r>
              <a:rPr lang="en-US" sz="213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Combines both methods to create a multi-layered defense system, balancing precision with the ability to detect unknown threats in production environments.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-304800" y="-725743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-304800" y="-725743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9747" y="1178273"/>
            <a:ext cx="7302253" cy="7950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6000" b="1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Dataset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6" y="2498675"/>
            <a:ext cx="6311653" cy="44723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2400" b="1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Dataset Overview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1079747" y="3097114"/>
            <a:ext cx="9451330" cy="13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400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Our research utilized a real-world financial dataset comprising 10,000 transactions with only 81 confirmed money laundering cases (0.81%) representing the extreme class imbalance typical in AML detection.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1079747" y="4505920"/>
            <a:ext cx="1878360" cy="3895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40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Core Features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7" y="5032176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Transaction amount and payment type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079747" y="5483424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Currency and cross-border indicators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79747" y="5934670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Bank location and account metadata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079746" y="6602909"/>
            <a:ext cx="4559053" cy="39703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312"/>
              </a:lnSpc>
            </a:pPr>
            <a:r>
              <a:rPr lang="en-US" sz="2400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Feature Engineering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079747" y="7129165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Time-based patterns (velocity, frequency)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079747" y="7580411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Financial risk indicators (amount anomalies)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079747" y="8031659"/>
            <a:ext cx="9451330" cy="4087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333672" lvl="1" indent="-166836" algn="l">
              <a:lnSpc>
                <a:spcPts val="3509"/>
              </a:lnSpc>
              <a:buFont typeface="Arial"/>
              <a:buChar char="•"/>
            </a:pPr>
            <a:r>
              <a:rPr lang="en-US" sz="240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Behavioral aggregations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11104960" y="6697116"/>
            <a:ext cx="6103293" cy="2484984"/>
            <a:chOff x="0" y="0"/>
            <a:chExt cx="8137724" cy="3313312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8137724" cy="3313312"/>
            </a:xfrm>
            <a:custGeom>
              <a:avLst/>
              <a:gdLst/>
              <a:ahLst/>
              <a:cxnLst/>
              <a:rect l="l" t="t" r="r" b="b"/>
              <a:pathLst>
                <a:path w="8150225" h="2791968">
                  <a:moveTo>
                    <a:pt x="0" y="129540"/>
                  </a:moveTo>
                  <a:cubicBezTo>
                    <a:pt x="0" y="58039"/>
                    <a:pt x="58039" y="0"/>
                    <a:pt x="129540" y="0"/>
                  </a:cubicBezTo>
                  <a:lnTo>
                    <a:pt x="8020685" y="0"/>
                  </a:lnTo>
                  <a:cubicBezTo>
                    <a:pt x="8092186" y="0"/>
                    <a:pt x="8150225" y="58039"/>
                    <a:pt x="8150225" y="129540"/>
                  </a:cubicBezTo>
                  <a:lnTo>
                    <a:pt x="8150225" y="2662428"/>
                  </a:lnTo>
                  <a:cubicBezTo>
                    <a:pt x="8150225" y="2733929"/>
                    <a:pt x="8092186" y="2791968"/>
                    <a:pt x="8020685" y="2791968"/>
                  </a:cubicBezTo>
                  <a:lnTo>
                    <a:pt x="129540" y="2791968"/>
                  </a:lnTo>
                  <a:cubicBezTo>
                    <a:pt x="58039" y="2791968"/>
                    <a:pt x="0" y="2733929"/>
                    <a:pt x="0" y="2662428"/>
                  </a:cubicBezTo>
                  <a:close/>
                </a:path>
              </a:pathLst>
            </a:custGeom>
            <a:solidFill>
              <a:srgbClr val="001D4D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1336239" y="7040910"/>
            <a:ext cx="289172" cy="231279"/>
            <a:chOff x="0" y="0"/>
            <a:chExt cx="385563" cy="308372"/>
          </a:xfrm>
        </p:grpSpPr>
        <p:sp>
          <p:nvSpPr>
            <p:cNvPr id="22" name="Freeform 22" descr="preencoded.png"/>
            <p:cNvSpPr/>
            <p:nvPr/>
          </p:nvSpPr>
          <p:spPr>
            <a:xfrm>
              <a:off x="0" y="0"/>
              <a:ext cx="385572" cy="308356"/>
            </a:xfrm>
            <a:custGeom>
              <a:avLst/>
              <a:gdLst/>
              <a:ahLst/>
              <a:cxnLst/>
              <a:rect l="l" t="t" r="r" b="b"/>
              <a:pathLst>
                <a:path w="385572" h="308356">
                  <a:moveTo>
                    <a:pt x="0" y="0"/>
                  </a:moveTo>
                  <a:lnTo>
                    <a:pt x="385572" y="0"/>
                  </a:lnTo>
                  <a:lnTo>
                    <a:pt x="385572" y="308356"/>
                  </a:lnTo>
                  <a:lnTo>
                    <a:pt x="0" y="3083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12" r="2" b="-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11856690" y="6881366"/>
            <a:ext cx="5129659" cy="2204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400" dirty="0">
                <a:solidFill>
                  <a:srgbClr val="FFFFF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Data Split Strategy: 80-20 train-test split with SMOTE applied exclusively to training data to prevent test set contamination and maintain realistic evaluation conditions.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557B638A-8D49-CB22-8B21-6954272C4F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58400" y="1077268"/>
            <a:ext cx="7772400" cy="45149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-78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30189" y="980778"/>
            <a:ext cx="8114779" cy="63748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312"/>
              </a:lnSpc>
            </a:pPr>
            <a:r>
              <a:rPr lang="en-US" sz="4249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Methods: Supervised + Unsupervised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30189" y="1923157"/>
            <a:ext cx="16227624" cy="3233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49"/>
              </a:lnSpc>
            </a:pPr>
            <a:r>
              <a:rPr lang="en-US" sz="179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We implemented a comprehensive hybrid approach combining multiple machine learning techniques to maximize fraud detection while maintaining operational feasibility.</a:t>
            </a:r>
          </a:p>
        </p:txBody>
      </p:sp>
      <p:grpSp>
        <p:nvGrpSpPr>
          <p:cNvPr id="8" name="Group 8"/>
          <p:cNvGrpSpPr>
            <a:grpSpLocks noChangeAspect="1"/>
          </p:cNvGrpSpPr>
          <p:nvPr/>
        </p:nvGrpSpPr>
        <p:grpSpPr>
          <a:xfrm>
            <a:off x="1030189" y="2530227"/>
            <a:ext cx="5409159" cy="765274"/>
            <a:chOff x="0" y="0"/>
            <a:chExt cx="7212212" cy="1020365"/>
          </a:xfrm>
        </p:grpSpPr>
        <p:sp>
          <p:nvSpPr>
            <p:cNvPr id="9" name="Freeform 9" descr="preencoded.png"/>
            <p:cNvSpPr/>
            <p:nvPr/>
          </p:nvSpPr>
          <p:spPr>
            <a:xfrm>
              <a:off x="0" y="0"/>
              <a:ext cx="7212203" cy="1020318"/>
            </a:xfrm>
            <a:custGeom>
              <a:avLst/>
              <a:gdLst/>
              <a:ahLst/>
              <a:cxnLst/>
              <a:rect l="l" t="t" r="r" b="b"/>
              <a:pathLst>
                <a:path w="7212203" h="1020318">
                  <a:moveTo>
                    <a:pt x="0" y="0"/>
                  </a:moveTo>
                  <a:lnTo>
                    <a:pt x="7212203" y="0"/>
                  </a:lnTo>
                  <a:lnTo>
                    <a:pt x="7212203" y="1020318"/>
                  </a:lnTo>
                  <a:lnTo>
                    <a:pt x="0" y="10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224" r="-224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21432" y="3467695"/>
            <a:ext cx="1139577" cy="72218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221432" y="3814614"/>
            <a:ext cx="5026670" cy="1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199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Gradient boosting with 200 trees and maximum depth of 6, optimized for handling imbalanced classes through scale_pos_weight tuning.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6439346" y="2530227"/>
            <a:ext cx="5409159" cy="765274"/>
            <a:chOff x="0" y="0"/>
            <a:chExt cx="7212212" cy="1020365"/>
          </a:xfrm>
        </p:grpSpPr>
        <p:sp>
          <p:nvSpPr>
            <p:cNvPr id="13" name="Freeform 13" descr="preencoded.png"/>
            <p:cNvSpPr/>
            <p:nvPr/>
          </p:nvSpPr>
          <p:spPr>
            <a:xfrm>
              <a:off x="0" y="0"/>
              <a:ext cx="7212203" cy="1020318"/>
            </a:xfrm>
            <a:custGeom>
              <a:avLst/>
              <a:gdLst/>
              <a:ahLst/>
              <a:cxnLst/>
              <a:rect l="l" t="t" r="r" b="b"/>
              <a:pathLst>
                <a:path w="7212203" h="1020318">
                  <a:moveTo>
                    <a:pt x="0" y="0"/>
                  </a:moveTo>
                  <a:lnTo>
                    <a:pt x="7212203" y="0"/>
                  </a:lnTo>
                  <a:lnTo>
                    <a:pt x="7212203" y="1020318"/>
                  </a:lnTo>
                  <a:lnTo>
                    <a:pt x="0" y="10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224" r="-224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6630591" y="3467695"/>
            <a:ext cx="1851496" cy="35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Random Forest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630591" y="3814614"/>
            <a:ext cx="5026670" cy="11885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199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of 200 decision trees with depth 15, providing robust predictions through bootstrap aggregation and feature randomization.</a:t>
            </a:r>
          </a:p>
        </p:txBody>
      </p:sp>
      <p:grpSp>
        <p:nvGrpSpPr>
          <p:cNvPr id="16" name="Group 16"/>
          <p:cNvGrpSpPr>
            <a:grpSpLocks noChangeAspect="1"/>
          </p:cNvGrpSpPr>
          <p:nvPr/>
        </p:nvGrpSpPr>
        <p:grpSpPr>
          <a:xfrm>
            <a:off x="11848505" y="2530227"/>
            <a:ext cx="5409307" cy="765274"/>
            <a:chOff x="0" y="0"/>
            <a:chExt cx="7212410" cy="1020365"/>
          </a:xfrm>
        </p:grpSpPr>
        <p:sp>
          <p:nvSpPr>
            <p:cNvPr id="17" name="Freeform 17" descr="preencoded.png"/>
            <p:cNvSpPr/>
            <p:nvPr/>
          </p:nvSpPr>
          <p:spPr>
            <a:xfrm>
              <a:off x="0" y="0"/>
              <a:ext cx="7212457" cy="1020318"/>
            </a:xfrm>
            <a:custGeom>
              <a:avLst/>
              <a:gdLst/>
              <a:ahLst/>
              <a:cxnLst/>
              <a:rect l="l" t="t" r="r" b="b"/>
              <a:pathLst>
                <a:path w="7212457" h="1020318">
                  <a:moveTo>
                    <a:pt x="0" y="0"/>
                  </a:moveTo>
                  <a:lnTo>
                    <a:pt x="7212457" y="0"/>
                  </a:lnTo>
                  <a:lnTo>
                    <a:pt x="7212457" y="1020318"/>
                  </a:lnTo>
                  <a:lnTo>
                    <a:pt x="0" y="102031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223" r="-222" b="-4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8" name="TextBox 18"/>
          <p:cNvSpPr txBox="1"/>
          <p:nvPr/>
        </p:nvSpPr>
        <p:spPr>
          <a:xfrm>
            <a:off x="12039749" y="3467695"/>
            <a:ext cx="2102644" cy="35028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7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Voting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12039749" y="3814614"/>
            <a:ext cx="5026819" cy="15885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199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 voting classifier combining </a:t>
            </a:r>
            <a:r>
              <a:rPr lang="en-US" sz="1999" dirty="0" err="1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</a:t>
            </a:r>
            <a:r>
              <a:rPr lang="en-US" sz="199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and Random Forest predictions to leverage complementary strengths and reduce individual model bias.</a:t>
            </a:r>
          </a:p>
        </p:txBody>
      </p:sp>
      <p:grpSp>
        <p:nvGrpSpPr>
          <p:cNvPr id="20" name="Group 20"/>
          <p:cNvGrpSpPr/>
          <p:nvPr/>
        </p:nvGrpSpPr>
        <p:grpSpPr>
          <a:xfrm>
            <a:off x="1030189" y="5320815"/>
            <a:ext cx="16227624" cy="33338"/>
            <a:chOff x="0" y="0"/>
            <a:chExt cx="21636832" cy="44450"/>
          </a:xfrm>
        </p:grpSpPr>
        <p:sp>
          <p:nvSpPr>
            <p:cNvPr id="21" name="Freeform 21"/>
            <p:cNvSpPr/>
            <p:nvPr/>
          </p:nvSpPr>
          <p:spPr>
            <a:xfrm>
              <a:off x="0" y="0"/>
              <a:ext cx="21636862" cy="44450"/>
            </a:xfrm>
            <a:custGeom>
              <a:avLst/>
              <a:gdLst/>
              <a:ahLst/>
              <a:cxnLst/>
              <a:rect l="l" t="t" r="r" b="b"/>
              <a:pathLst>
                <a:path w="21636862" h="44450">
                  <a:moveTo>
                    <a:pt x="0" y="0"/>
                  </a:moveTo>
                  <a:lnTo>
                    <a:pt x="21636862" y="0"/>
                  </a:lnTo>
                  <a:lnTo>
                    <a:pt x="21636862" y="44450"/>
                  </a:lnTo>
                  <a:lnTo>
                    <a:pt x="0" y="44450"/>
                  </a:lnTo>
                  <a:close/>
                </a:path>
              </a:pathLst>
            </a:custGeom>
            <a:solidFill>
              <a:srgbClr val="E2E6E9">
                <a:alpha val="2470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2" name="TextBox 22"/>
          <p:cNvSpPr txBox="1"/>
          <p:nvPr/>
        </p:nvSpPr>
        <p:spPr>
          <a:xfrm>
            <a:off x="1030188" y="5722441"/>
            <a:ext cx="5122259" cy="40966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437"/>
              </a:lnSpc>
            </a:pPr>
            <a:r>
              <a:rPr lang="en-US" sz="2749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Unsupervised Detection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1030189" y="6176665"/>
            <a:ext cx="3008411" cy="3502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2929"/>
              </a:lnSpc>
            </a:pPr>
            <a:r>
              <a:rPr lang="en-US" sz="2374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Isolation Forest</a:t>
            </a:r>
          </a:p>
        </p:txBody>
      </p:sp>
      <p:sp>
        <p:nvSpPr>
          <p:cNvPr id="24" name="TextBox 24"/>
          <p:cNvSpPr txBox="1"/>
          <p:nvPr/>
        </p:nvSpPr>
        <p:spPr>
          <a:xfrm>
            <a:off x="1030189" y="6600081"/>
            <a:ext cx="7880449" cy="15885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66"/>
              </a:lnSpc>
            </a:pPr>
            <a:r>
              <a:rPr lang="en-US" sz="199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Trained on legitimate transactions only with 100 estimators. Isolates anomalies by measuring path length in random decision trees—shorter paths indicate unusual patterns that may represent novel money laundering schemes.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5CDB4030-16B4-5C23-8591-E0F3A878C90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601200" y="5531468"/>
            <a:ext cx="8001000" cy="457821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9747" y="827483"/>
            <a:ext cx="3111253" cy="153862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193"/>
              </a:lnSpc>
            </a:pPr>
            <a:r>
              <a:rPr lang="en-US" sz="4899" b="1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Evaluation Results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181600" y="1011565"/>
            <a:ext cx="10598087" cy="6018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996"/>
              </a:lnSpc>
            </a:pPr>
            <a:r>
              <a:rPr lang="en-US" sz="4024" b="1" dirty="0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Best Performing Model: Ensemble Voting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2621719" y="2836515"/>
            <a:ext cx="2099444" cy="87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87.0%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026829" y="3755826"/>
            <a:ext cx="1289075" cy="44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4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Accuracy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079747" y="4189511"/>
            <a:ext cx="5183386" cy="8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212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Overall classification correctness across all transactions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026413" y="2836515"/>
            <a:ext cx="2235175" cy="82073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0.029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527071" y="3755826"/>
            <a:ext cx="1233711" cy="44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49" dirty="0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F1-Score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871637" y="2836515"/>
            <a:ext cx="1489844" cy="8769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399"/>
              </a:lnSpc>
            </a:pPr>
            <a:r>
              <a:rPr lang="en-US" sz="639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25%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4186707" y="3755826"/>
            <a:ext cx="859557" cy="4403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2649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Recall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2024866" y="4189511"/>
            <a:ext cx="5183386" cy="8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509"/>
              </a:lnSpc>
            </a:pPr>
            <a:r>
              <a:rPr lang="en-US" sz="2212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Percentage of actual fraud cases successfully detected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1079747" y="5488335"/>
            <a:ext cx="1993032" cy="50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3087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 Insights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1079748" y="6086772"/>
            <a:ext cx="7782074" cy="1310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supervised ensemble achieves high accuracy but struggles with recall due to extreme class imbalance—a common challenge in AML systems where false negatives carry significant risk.</a:t>
            </a:r>
          </a:p>
        </p:txBody>
      </p:sp>
      <p:sp>
        <p:nvSpPr>
          <p:cNvPr id="19" name="TextBox 19"/>
          <p:cNvSpPr txBox="1"/>
          <p:nvPr/>
        </p:nvSpPr>
        <p:spPr>
          <a:xfrm>
            <a:off x="9435704" y="5488335"/>
            <a:ext cx="4551462" cy="5019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77"/>
              </a:lnSpc>
            </a:pPr>
            <a:r>
              <a:rPr lang="en-US" sz="3087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Isolation Forest Performance</a:t>
            </a:r>
          </a:p>
        </p:txBody>
      </p:sp>
      <p:sp>
        <p:nvSpPr>
          <p:cNvPr id="20" name="TextBox 20"/>
          <p:cNvSpPr txBox="1"/>
          <p:nvPr/>
        </p:nvSpPr>
        <p:spPr>
          <a:xfrm>
            <a:off x="9435704" y="6086772"/>
            <a:ext cx="7782074" cy="17488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62.5% recall demonstrates superior fraud detection capability, catching more than double the cases identified by supervised methods, though with increased false positive rates requiring human review.</a:t>
            </a:r>
          </a:p>
        </p:txBody>
      </p:sp>
      <p:sp>
        <p:nvSpPr>
          <p:cNvPr id="21" name="TextBox 21"/>
          <p:cNvSpPr txBox="1"/>
          <p:nvPr/>
        </p:nvSpPr>
        <p:spPr>
          <a:xfrm>
            <a:off x="1426815" y="8296721"/>
            <a:ext cx="15781436" cy="87255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09"/>
              </a:lnSpc>
            </a:pPr>
            <a:r>
              <a:rPr lang="en-US" sz="2212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The hybrid approach bridges the gap between precision-focused supervised learning and comprehensive anomaly detection, providing defense-in-depth for financial institutions.</a:t>
            </a:r>
          </a:p>
        </p:txBody>
      </p:sp>
      <p:grpSp>
        <p:nvGrpSpPr>
          <p:cNvPr id="22" name="Group 22"/>
          <p:cNvGrpSpPr/>
          <p:nvPr/>
        </p:nvGrpSpPr>
        <p:grpSpPr>
          <a:xfrm>
            <a:off x="1079748" y="8141196"/>
            <a:ext cx="28575" cy="1261170"/>
            <a:chOff x="0" y="0"/>
            <a:chExt cx="38100" cy="1681560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38100" cy="1681607"/>
            </a:xfrm>
            <a:custGeom>
              <a:avLst/>
              <a:gdLst/>
              <a:ahLst/>
              <a:cxnLst/>
              <a:rect l="l" t="t" r="r" b="b"/>
              <a:pathLst>
                <a:path w="38100" h="1681607">
                  <a:moveTo>
                    <a:pt x="0" y="0"/>
                  </a:moveTo>
                  <a:lnTo>
                    <a:pt x="38100" y="0"/>
                  </a:lnTo>
                  <a:lnTo>
                    <a:pt x="38100" y="1681607"/>
                  </a:lnTo>
                  <a:lnTo>
                    <a:pt x="0" y="1681607"/>
                  </a:lnTo>
                  <a:close/>
                </a:path>
              </a:pathLst>
            </a:custGeom>
            <a:solidFill>
              <a:srgbClr val="609DFF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ChangeAspect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079747" y="904429"/>
            <a:ext cx="5848499" cy="92349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8"/>
              </a:lnSpc>
            </a:pPr>
            <a:r>
              <a:rPr lang="en-US" sz="5737">
                <a:solidFill>
                  <a:srgbClr val="F5F0F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Team Contributions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079747" y="2270372"/>
            <a:ext cx="16128504" cy="9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42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This research represents a collaborative effort combining expertise across machine learning, data engineering, and financial analytics to deliver a production-ready AML detection system.</a:t>
            </a:r>
          </a:p>
        </p:txBody>
      </p:sp>
      <p:grpSp>
        <p:nvGrpSpPr>
          <p:cNvPr id="8" name="Group 8"/>
          <p:cNvGrpSpPr/>
          <p:nvPr/>
        </p:nvGrpSpPr>
        <p:grpSpPr>
          <a:xfrm>
            <a:off x="1060697" y="3566518"/>
            <a:ext cx="7963495" cy="2991296"/>
            <a:chOff x="0" y="0"/>
            <a:chExt cx="10617993" cy="3988395"/>
          </a:xfrm>
        </p:grpSpPr>
        <p:sp>
          <p:nvSpPr>
            <p:cNvPr id="9" name="Freeform 9"/>
            <p:cNvSpPr/>
            <p:nvPr/>
          </p:nvSpPr>
          <p:spPr>
            <a:xfrm>
              <a:off x="25400" y="25400"/>
              <a:ext cx="10567162" cy="3937508"/>
            </a:xfrm>
            <a:custGeom>
              <a:avLst/>
              <a:gdLst/>
              <a:ahLst/>
              <a:cxnLst/>
              <a:rect l="l" t="t" r="r" b="b"/>
              <a:pathLst>
                <a:path w="10567162" h="3937508">
                  <a:moveTo>
                    <a:pt x="0" y="155448"/>
                  </a:moveTo>
                  <a:cubicBezTo>
                    <a:pt x="0" y="69596"/>
                    <a:pt x="70231" y="0"/>
                    <a:pt x="156718" y="0"/>
                  </a:cubicBezTo>
                  <a:lnTo>
                    <a:pt x="10410444" y="0"/>
                  </a:lnTo>
                  <a:cubicBezTo>
                    <a:pt x="10497058" y="0"/>
                    <a:pt x="10567162" y="69596"/>
                    <a:pt x="10567162" y="155448"/>
                  </a:cubicBezTo>
                  <a:lnTo>
                    <a:pt x="10567162" y="3782060"/>
                  </a:lnTo>
                  <a:cubicBezTo>
                    <a:pt x="10567162" y="3867912"/>
                    <a:pt x="10496931" y="3937508"/>
                    <a:pt x="10410444" y="3937508"/>
                  </a:cubicBezTo>
                  <a:lnTo>
                    <a:pt x="156718" y="3937508"/>
                  </a:lnTo>
                  <a:cubicBezTo>
                    <a:pt x="70231" y="3937635"/>
                    <a:pt x="0" y="3868039"/>
                    <a:pt x="0" y="3782060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Freeform 10"/>
            <p:cNvSpPr/>
            <p:nvPr/>
          </p:nvSpPr>
          <p:spPr>
            <a:xfrm>
              <a:off x="0" y="0"/>
              <a:ext cx="10617962" cy="3988308"/>
            </a:xfrm>
            <a:custGeom>
              <a:avLst/>
              <a:gdLst/>
              <a:ahLst/>
              <a:cxnLst/>
              <a:rect l="l" t="t" r="r" b="b"/>
              <a:pathLst>
                <a:path w="10617962" h="3988308">
                  <a:moveTo>
                    <a:pt x="0" y="180848"/>
                  </a:moveTo>
                  <a:cubicBezTo>
                    <a:pt x="0" y="80772"/>
                    <a:pt x="81788" y="0"/>
                    <a:pt x="182118" y="0"/>
                  </a:cubicBezTo>
                  <a:lnTo>
                    <a:pt x="10435844" y="0"/>
                  </a:lnTo>
                  <a:lnTo>
                    <a:pt x="10435844" y="25400"/>
                  </a:lnTo>
                  <a:lnTo>
                    <a:pt x="10435844" y="0"/>
                  </a:lnTo>
                  <a:cubicBezTo>
                    <a:pt x="10536300" y="0"/>
                    <a:pt x="10617962" y="80772"/>
                    <a:pt x="10617962" y="180848"/>
                  </a:cubicBezTo>
                  <a:lnTo>
                    <a:pt x="10592562" y="180848"/>
                  </a:lnTo>
                  <a:lnTo>
                    <a:pt x="10617962" y="180848"/>
                  </a:lnTo>
                  <a:lnTo>
                    <a:pt x="10617962" y="3807460"/>
                  </a:lnTo>
                  <a:lnTo>
                    <a:pt x="10592562" y="3807460"/>
                  </a:lnTo>
                  <a:lnTo>
                    <a:pt x="10617962" y="3807460"/>
                  </a:lnTo>
                  <a:cubicBezTo>
                    <a:pt x="10617962" y="3907536"/>
                    <a:pt x="10536174" y="3988308"/>
                    <a:pt x="10435844" y="3988308"/>
                  </a:cubicBezTo>
                  <a:lnTo>
                    <a:pt x="10435844" y="3962908"/>
                  </a:lnTo>
                  <a:lnTo>
                    <a:pt x="10435844" y="3988308"/>
                  </a:lnTo>
                  <a:lnTo>
                    <a:pt x="182118" y="3988308"/>
                  </a:lnTo>
                  <a:lnTo>
                    <a:pt x="182118" y="3962908"/>
                  </a:lnTo>
                  <a:lnTo>
                    <a:pt x="182118" y="3988308"/>
                  </a:lnTo>
                  <a:cubicBezTo>
                    <a:pt x="81788" y="3988435"/>
                    <a:pt x="0" y="3907536"/>
                    <a:pt x="0" y="3807460"/>
                  </a:cubicBezTo>
                  <a:lnTo>
                    <a:pt x="0" y="180848"/>
                  </a:lnTo>
                  <a:lnTo>
                    <a:pt x="25400" y="180848"/>
                  </a:lnTo>
                  <a:lnTo>
                    <a:pt x="0" y="180848"/>
                  </a:lnTo>
                  <a:moveTo>
                    <a:pt x="50800" y="180848"/>
                  </a:moveTo>
                  <a:lnTo>
                    <a:pt x="50800" y="3807460"/>
                  </a:lnTo>
                  <a:lnTo>
                    <a:pt x="25400" y="3807460"/>
                  </a:lnTo>
                  <a:lnTo>
                    <a:pt x="50800" y="3807460"/>
                  </a:lnTo>
                  <a:cubicBezTo>
                    <a:pt x="50800" y="3879088"/>
                    <a:pt x="109474" y="3937508"/>
                    <a:pt x="182118" y="3937508"/>
                  </a:cubicBezTo>
                  <a:lnTo>
                    <a:pt x="10435844" y="3937508"/>
                  </a:lnTo>
                  <a:cubicBezTo>
                    <a:pt x="10508614" y="3937508"/>
                    <a:pt x="10567162" y="3879088"/>
                    <a:pt x="10567162" y="3807460"/>
                  </a:cubicBezTo>
                  <a:lnTo>
                    <a:pt x="10567162" y="180848"/>
                  </a:lnTo>
                  <a:cubicBezTo>
                    <a:pt x="10567162" y="109220"/>
                    <a:pt x="10508615" y="50800"/>
                    <a:pt x="10435844" y="50800"/>
                  </a:cubicBezTo>
                  <a:lnTo>
                    <a:pt x="182118" y="50800"/>
                  </a:lnTo>
                  <a:lnTo>
                    <a:pt x="182118" y="25400"/>
                  </a:lnTo>
                  <a:lnTo>
                    <a:pt x="182118" y="50800"/>
                  </a:lnTo>
                  <a:cubicBezTo>
                    <a:pt x="109474" y="50800"/>
                    <a:pt x="50800" y="109220"/>
                    <a:pt x="50800" y="180848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117847" y="3623667"/>
            <a:ext cx="7849195" cy="832991"/>
            <a:chOff x="0" y="0"/>
            <a:chExt cx="10465593" cy="1110655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0465562" cy="1110615"/>
            </a:xfrm>
            <a:custGeom>
              <a:avLst/>
              <a:gdLst/>
              <a:ahLst/>
              <a:cxnLst/>
              <a:rect l="l" t="t" r="r" b="b"/>
              <a:pathLst>
                <a:path w="10465562" h="111061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10371074" y="0"/>
                  </a:lnTo>
                  <a:cubicBezTo>
                    <a:pt x="10423271" y="0"/>
                    <a:pt x="10465562" y="42291"/>
                    <a:pt x="10465562" y="94488"/>
                  </a:cubicBezTo>
                  <a:lnTo>
                    <a:pt x="10465562" y="1016127"/>
                  </a:lnTo>
                  <a:cubicBezTo>
                    <a:pt x="10465562" y="1068324"/>
                    <a:pt x="10423271" y="1110615"/>
                    <a:pt x="10371074" y="1110615"/>
                  </a:cubicBezTo>
                  <a:lnTo>
                    <a:pt x="94488" y="1110615"/>
                  </a:lnTo>
                  <a:cubicBezTo>
                    <a:pt x="42291" y="1110615"/>
                    <a:pt x="0" y="1068324"/>
                    <a:pt x="0" y="1016127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3" name="Freeform 13" descr="preencoded.png"/>
          <p:cNvSpPr/>
          <p:nvPr/>
        </p:nvSpPr>
        <p:spPr>
          <a:xfrm>
            <a:off x="4834235" y="3827115"/>
            <a:ext cx="416421" cy="416421"/>
          </a:xfrm>
          <a:custGeom>
            <a:avLst/>
            <a:gdLst/>
            <a:ahLst/>
            <a:cxnLst/>
            <a:rect l="l" t="t" r="r" b="b"/>
            <a:pathLst>
              <a:path w="416421" h="416421">
                <a:moveTo>
                  <a:pt x="0" y="0"/>
                </a:moveTo>
                <a:lnTo>
                  <a:pt x="416421" y="0"/>
                </a:lnTo>
                <a:lnTo>
                  <a:pt x="416421" y="416421"/>
                </a:lnTo>
                <a:lnTo>
                  <a:pt x="0" y="41642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t="-1136" b="-11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TextBox 14"/>
          <p:cNvSpPr txBox="1"/>
          <p:nvPr/>
        </p:nvSpPr>
        <p:spPr>
          <a:xfrm>
            <a:off x="1395412" y="4696122"/>
            <a:ext cx="2813521" cy="49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98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Khushboo Kumari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95413" y="5220295"/>
            <a:ext cx="7294066" cy="4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42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XGBOOST And Random Forest</a:t>
            </a:r>
          </a:p>
        </p:txBody>
      </p:sp>
      <p:grpSp>
        <p:nvGrpSpPr>
          <p:cNvPr id="16" name="Group 16"/>
          <p:cNvGrpSpPr/>
          <p:nvPr/>
        </p:nvGrpSpPr>
        <p:grpSpPr>
          <a:xfrm>
            <a:off x="9263657" y="3566518"/>
            <a:ext cx="7963644" cy="2991296"/>
            <a:chOff x="0" y="0"/>
            <a:chExt cx="10618192" cy="3988395"/>
          </a:xfrm>
        </p:grpSpPr>
        <p:sp>
          <p:nvSpPr>
            <p:cNvPr id="17" name="Freeform 17"/>
            <p:cNvSpPr/>
            <p:nvPr/>
          </p:nvSpPr>
          <p:spPr>
            <a:xfrm>
              <a:off x="25400" y="25400"/>
              <a:ext cx="10567416" cy="3937508"/>
            </a:xfrm>
            <a:custGeom>
              <a:avLst/>
              <a:gdLst/>
              <a:ahLst/>
              <a:cxnLst/>
              <a:rect l="l" t="t" r="r" b="b"/>
              <a:pathLst>
                <a:path w="10567416" h="3937508">
                  <a:moveTo>
                    <a:pt x="0" y="155448"/>
                  </a:moveTo>
                  <a:cubicBezTo>
                    <a:pt x="0" y="69596"/>
                    <a:pt x="70231" y="0"/>
                    <a:pt x="156718" y="0"/>
                  </a:cubicBezTo>
                  <a:lnTo>
                    <a:pt x="10410698" y="0"/>
                  </a:lnTo>
                  <a:cubicBezTo>
                    <a:pt x="10497312" y="0"/>
                    <a:pt x="10567416" y="69596"/>
                    <a:pt x="10567416" y="155448"/>
                  </a:cubicBezTo>
                  <a:lnTo>
                    <a:pt x="10567416" y="3782060"/>
                  </a:lnTo>
                  <a:cubicBezTo>
                    <a:pt x="10567416" y="3867912"/>
                    <a:pt x="10497185" y="3937508"/>
                    <a:pt x="10410698" y="3937508"/>
                  </a:cubicBezTo>
                  <a:lnTo>
                    <a:pt x="156718" y="3937508"/>
                  </a:lnTo>
                  <a:cubicBezTo>
                    <a:pt x="70231" y="3937635"/>
                    <a:pt x="0" y="3868039"/>
                    <a:pt x="0" y="3782060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Freeform 18"/>
            <p:cNvSpPr/>
            <p:nvPr/>
          </p:nvSpPr>
          <p:spPr>
            <a:xfrm>
              <a:off x="0" y="0"/>
              <a:ext cx="10618216" cy="3988308"/>
            </a:xfrm>
            <a:custGeom>
              <a:avLst/>
              <a:gdLst/>
              <a:ahLst/>
              <a:cxnLst/>
              <a:rect l="l" t="t" r="r" b="b"/>
              <a:pathLst>
                <a:path w="10618216" h="3988308">
                  <a:moveTo>
                    <a:pt x="0" y="180848"/>
                  </a:moveTo>
                  <a:cubicBezTo>
                    <a:pt x="0" y="80772"/>
                    <a:pt x="81788" y="0"/>
                    <a:pt x="182118" y="0"/>
                  </a:cubicBezTo>
                  <a:lnTo>
                    <a:pt x="10436098" y="0"/>
                  </a:lnTo>
                  <a:lnTo>
                    <a:pt x="10436098" y="25400"/>
                  </a:lnTo>
                  <a:lnTo>
                    <a:pt x="10436098" y="0"/>
                  </a:lnTo>
                  <a:cubicBezTo>
                    <a:pt x="10536555" y="0"/>
                    <a:pt x="10618216" y="80772"/>
                    <a:pt x="10618216" y="180848"/>
                  </a:cubicBezTo>
                  <a:lnTo>
                    <a:pt x="10592816" y="180848"/>
                  </a:lnTo>
                  <a:lnTo>
                    <a:pt x="10618216" y="180848"/>
                  </a:lnTo>
                  <a:lnTo>
                    <a:pt x="10618216" y="3807460"/>
                  </a:lnTo>
                  <a:lnTo>
                    <a:pt x="10592816" y="3807460"/>
                  </a:lnTo>
                  <a:lnTo>
                    <a:pt x="10618216" y="3807460"/>
                  </a:lnTo>
                  <a:cubicBezTo>
                    <a:pt x="10618216" y="3907536"/>
                    <a:pt x="10536428" y="3988308"/>
                    <a:pt x="10436098" y="3988308"/>
                  </a:cubicBezTo>
                  <a:lnTo>
                    <a:pt x="10436098" y="3962908"/>
                  </a:lnTo>
                  <a:lnTo>
                    <a:pt x="10436098" y="3988308"/>
                  </a:lnTo>
                  <a:lnTo>
                    <a:pt x="182118" y="3988308"/>
                  </a:lnTo>
                  <a:lnTo>
                    <a:pt x="182118" y="3962908"/>
                  </a:lnTo>
                  <a:lnTo>
                    <a:pt x="182118" y="3988308"/>
                  </a:lnTo>
                  <a:cubicBezTo>
                    <a:pt x="81788" y="3988435"/>
                    <a:pt x="0" y="3907536"/>
                    <a:pt x="0" y="3807460"/>
                  </a:cubicBezTo>
                  <a:lnTo>
                    <a:pt x="0" y="180848"/>
                  </a:lnTo>
                  <a:lnTo>
                    <a:pt x="25400" y="180848"/>
                  </a:lnTo>
                  <a:lnTo>
                    <a:pt x="0" y="180848"/>
                  </a:lnTo>
                  <a:moveTo>
                    <a:pt x="50800" y="180848"/>
                  </a:moveTo>
                  <a:lnTo>
                    <a:pt x="50800" y="3807460"/>
                  </a:lnTo>
                  <a:lnTo>
                    <a:pt x="25400" y="3807460"/>
                  </a:lnTo>
                  <a:lnTo>
                    <a:pt x="50800" y="3807460"/>
                  </a:lnTo>
                  <a:cubicBezTo>
                    <a:pt x="50800" y="3879088"/>
                    <a:pt x="109474" y="3937508"/>
                    <a:pt x="182118" y="3937508"/>
                  </a:cubicBezTo>
                  <a:lnTo>
                    <a:pt x="10436098" y="3937508"/>
                  </a:lnTo>
                  <a:cubicBezTo>
                    <a:pt x="10508869" y="3937508"/>
                    <a:pt x="10567416" y="3879088"/>
                    <a:pt x="10567416" y="3807460"/>
                  </a:cubicBezTo>
                  <a:lnTo>
                    <a:pt x="10567416" y="180848"/>
                  </a:lnTo>
                  <a:cubicBezTo>
                    <a:pt x="10567416" y="109220"/>
                    <a:pt x="10508742" y="50800"/>
                    <a:pt x="10436098" y="50800"/>
                  </a:cubicBezTo>
                  <a:lnTo>
                    <a:pt x="182118" y="50800"/>
                  </a:lnTo>
                  <a:lnTo>
                    <a:pt x="182118" y="25400"/>
                  </a:lnTo>
                  <a:lnTo>
                    <a:pt x="182118" y="50800"/>
                  </a:lnTo>
                  <a:cubicBezTo>
                    <a:pt x="109474" y="50800"/>
                    <a:pt x="50800" y="109220"/>
                    <a:pt x="50800" y="180848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9" name="Group 19"/>
          <p:cNvGrpSpPr/>
          <p:nvPr/>
        </p:nvGrpSpPr>
        <p:grpSpPr>
          <a:xfrm>
            <a:off x="9320807" y="3623667"/>
            <a:ext cx="7849344" cy="832991"/>
            <a:chOff x="0" y="0"/>
            <a:chExt cx="10465792" cy="1110655"/>
          </a:xfrm>
        </p:grpSpPr>
        <p:sp>
          <p:nvSpPr>
            <p:cNvPr id="20" name="Freeform 20"/>
            <p:cNvSpPr/>
            <p:nvPr/>
          </p:nvSpPr>
          <p:spPr>
            <a:xfrm>
              <a:off x="0" y="0"/>
              <a:ext cx="10465689" cy="1110615"/>
            </a:xfrm>
            <a:custGeom>
              <a:avLst/>
              <a:gdLst/>
              <a:ahLst/>
              <a:cxnLst/>
              <a:rect l="l" t="t" r="r" b="b"/>
              <a:pathLst>
                <a:path w="10465689" h="111061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10371201" y="0"/>
                  </a:lnTo>
                  <a:cubicBezTo>
                    <a:pt x="10423398" y="0"/>
                    <a:pt x="10465689" y="42291"/>
                    <a:pt x="10465689" y="94488"/>
                  </a:cubicBezTo>
                  <a:lnTo>
                    <a:pt x="10465689" y="1016127"/>
                  </a:lnTo>
                  <a:cubicBezTo>
                    <a:pt x="10465689" y="1068324"/>
                    <a:pt x="10423398" y="1110615"/>
                    <a:pt x="10371201" y="1110615"/>
                  </a:cubicBezTo>
                  <a:lnTo>
                    <a:pt x="94488" y="1110615"/>
                  </a:lnTo>
                  <a:cubicBezTo>
                    <a:pt x="42291" y="1110615"/>
                    <a:pt x="0" y="1068324"/>
                    <a:pt x="0" y="1016127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1" name="Freeform 21" descr="preencoded.png"/>
          <p:cNvSpPr/>
          <p:nvPr/>
        </p:nvSpPr>
        <p:spPr>
          <a:xfrm>
            <a:off x="13037195" y="3827115"/>
            <a:ext cx="416421" cy="416421"/>
          </a:xfrm>
          <a:custGeom>
            <a:avLst/>
            <a:gdLst/>
            <a:ahLst/>
            <a:cxnLst/>
            <a:rect l="l" t="t" r="r" b="b"/>
            <a:pathLst>
              <a:path w="416421" h="416421">
                <a:moveTo>
                  <a:pt x="0" y="0"/>
                </a:moveTo>
                <a:lnTo>
                  <a:pt x="416421" y="0"/>
                </a:lnTo>
                <a:lnTo>
                  <a:pt x="416421" y="416421"/>
                </a:lnTo>
                <a:lnTo>
                  <a:pt x="0" y="41642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-4545" r="-4545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2" name="TextBox 22"/>
          <p:cNvSpPr txBox="1"/>
          <p:nvPr/>
        </p:nvSpPr>
        <p:spPr>
          <a:xfrm>
            <a:off x="9598373" y="4696122"/>
            <a:ext cx="2328565" cy="49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98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Harshit Mahori</a:t>
            </a:r>
          </a:p>
        </p:txBody>
      </p:sp>
      <p:sp>
        <p:nvSpPr>
          <p:cNvPr id="23" name="TextBox 23"/>
          <p:cNvSpPr txBox="1"/>
          <p:nvPr/>
        </p:nvSpPr>
        <p:spPr>
          <a:xfrm>
            <a:off x="9598372" y="5220295"/>
            <a:ext cx="7294215" cy="9762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42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Ensemble Voting, Isolation forest and Performance metrics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1060697" y="6797279"/>
            <a:ext cx="7963495" cy="2547045"/>
            <a:chOff x="0" y="0"/>
            <a:chExt cx="10617993" cy="3396060"/>
          </a:xfrm>
        </p:grpSpPr>
        <p:sp>
          <p:nvSpPr>
            <p:cNvPr id="25" name="Freeform 25"/>
            <p:cNvSpPr/>
            <p:nvPr/>
          </p:nvSpPr>
          <p:spPr>
            <a:xfrm>
              <a:off x="25400" y="25400"/>
              <a:ext cx="10567162" cy="3345180"/>
            </a:xfrm>
            <a:custGeom>
              <a:avLst/>
              <a:gdLst/>
              <a:ahLst/>
              <a:cxnLst/>
              <a:rect l="l" t="t" r="r" b="b"/>
              <a:pathLst>
                <a:path w="10567162" h="3345180">
                  <a:moveTo>
                    <a:pt x="0" y="155448"/>
                  </a:moveTo>
                  <a:cubicBezTo>
                    <a:pt x="0" y="69596"/>
                    <a:pt x="70358" y="0"/>
                    <a:pt x="157099" y="0"/>
                  </a:cubicBezTo>
                  <a:lnTo>
                    <a:pt x="10410063" y="0"/>
                  </a:lnTo>
                  <a:cubicBezTo>
                    <a:pt x="10496804" y="0"/>
                    <a:pt x="10567162" y="69596"/>
                    <a:pt x="10567162" y="155448"/>
                  </a:cubicBezTo>
                  <a:lnTo>
                    <a:pt x="10567162" y="3189732"/>
                  </a:lnTo>
                  <a:cubicBezTo>
                    <a:pt x="10567162" y="3275584"/>
                    <a:pt x="10496804" y="3345180"/>
                    <a:pt x="10410063" y="3345180"/>
                  </a:cubicBezTo>
                  <a:lnTo>
                    <a:pt x="157099" y="3345180"/>
                  </a:lnTo>
                  <a:cubicBezTo>
                    <a:pt x="70358" y="3345307"/>
                    <a:pt x="0" y="3275584"/>
                    <a:pt x="0" y="31897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Freeform 26"/>
            <p:cNvSpPr/>
            <p:nvPr/>
          </p:nvSpPr>
          <p:spPr>
            <a:xfrm>
              <a:off x="0" y="0"/>
              <a:ext cx="10617962" cy="3395980"/>
            </a:xfrm>
            <a:custGeom>
              <a:avLst/>
              <a:gdLst/>
              <a:ahLst/>
              <a:cxnLst/>
              <a:rect l="l" t="t" r="r" b="b"/>
              <a:pathLst>
                <a:path w="10617962" h="3395980">
                  <a:moveTo>
                    <a:pt x="0" y="180848"/>
                  </a:moveTo>
                  <a:cubicBezTo>
                    <a:pt x="0" y="80772"/>
                    <a:pt x="81915" y="0"/>
                    <a:pt x="182499" y="0"/>
                  </a:cubicBezTo>
                  <a:lnTo>
                    <a:pt x="10435463" y="0"/>
                  </a:lnTo>
                  <a:lnTo>
                    <a:pt x="10435463" y="25400"/>
                  </a:lnTo>
                  <a:lnTo>
                    <a:pt x="10435463" y="0"/>
                  </a:lnTo>
                  <a:cubicBezTo>
                    <a:pt x="10536047" y="0"/>
                    <a:pt x="10617962" y="80772"/>
                    <a:pt x="10617962" y="180848"/>
                  </a:cubicBezTo>
                  <a:lnTo>
                    <a:pt x="10592562" y="180848"/>
                  </a:lnTo>
                  <a:lnTo>
                    <a:pt x="10617962" y="180848"/>
                  </a:lnTo>
                  <a:lnTo>
                    <a:pt x="10617962" y="3215132"/>
                  </a:lnTo>
                  <a:lnTo>
                    <a:pt x="10592562" y="3215132"/>
                  </a:lnTo>
                  <a:lnTo>
                    <a:pt x="10617962" y="3215132"/>
                  </a:lnTo>
                  <a:cubicBezTo>
                    <a:pt x="10617962" y="3315335"/>
                    <a:pt x="10536047" y="3395980"/>
                    <a:pt x="10435463" y="3395980"/>
                  </a:cubicBezTo>
                  <a:lnTo>
                    <a:pt x="10435463" y="3370580"/>
                  </a:lnTo>
                  <a:lnTo>
                    <a:pt x="10435463" y="3395980"/>
                  </a:lnTo>
                  <a:lnTo>
                    <a:pt x="182499" y="3395980"/>
                  </a:lnTo>
                  <a:lnTo>
                    <a:pt x="182499" y="3370580"/>
                  </a:lnTo>
                  <a:lnTo>
                    <a:pt x="182499" y="3395980"/>
                  </a:lnTo>
                  <a:cubicBezTo>
                    <a:pt x="81915" y="3396107"/>
                    <a:pt x="0" y="3315335"/>
                    <a:pt x="0" y="3215132"/>
                  </a:cubicBezTo>
                  <a:lnTo>
                    <a:pt x="0" y="180848"/>
                  </a:lnTo>
                  <a:lnTo>
                    <a:pt x="25400" y="180848"/>
                  </a:lnTo>
                  <a:lnTo>
                    <a:pt x="0" y="180848"/>
                  </a:lnTo>
                  <a:moveTo>
                    <a:pt x="50800" y="180848"/>
                  </a:moveTo>
                  <a:lnTo>
                    <a:pt x="50800" y="3215132"/>
                  </a:lnTo>
                  <a:lnTo>
                    <a:pt x="25400" y="3215132"/>
                  </a:lnTo>
                  <a:lnTo>
                    <a:pt x="50800" y="3215132"/>
                  </a:lnTo>
                  <a:cubicBezTo>
                    <a:pt x="50800" y="3286760"/>
                    <a:pt x="109474" y="3345180"/>
                    <a:pt x="182499" y="3345180"/>
                  </a:cubicBezTo>
                  <a:lnTo>
                    <a:pt x="10435463" y="3345180"/>
                  </a:lnTo>
                  <a:cubicBezTo>
                    <a:pt x="10508488" y="3345180"/>
                    <a:pt x="10567162" y="3286633"/>
                    <a:pt x="10567162" y="3215132"/>
                  </a:cubicBezTo>
                  <a:lnTo>
                    <a:pt x="10567162" y="180848"/>
                  </a:lnTo>
                  <a:cubicBezTo>
                    <a:pt x="10567162" y="109347"/>
                    <a:pt x="10508488" y="50800"/>
                    <a:pt x="10435463" y="50800"/>
                  </a:cubicBezTo>
                  <a:lnTo>
                    <a:pt x="182499" y="50800"/>
                  </a:lnTo>
                  <a:lnTo>
                    <a:pt x="182499" y="25400"/>
                  </a:lnTo>
                  <a:lnTo>
                    <a:pt x="182499" y="50800"/>
                  </a:lnTo>
                  <a:cubicBezTo>
                    <a:pt x="109474" y="50800"/>
                    <a:pt x="50800" y="109347"/>
                    <a:pt x="50800" y="180848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1117847" y="6854429"/>
            <a:ext cx="7849195" cy="832991"/>
            <a:chOff x="0" y="0"/>
            <a:chExt cx="10465593" cy="1110655"/>
          </a:xfrm>
        </p:grpSpPr>
        <p:sp>
          <p:nvSpPr>
            <p:cNvPr id="28" name="Freeform 28"/>
            <p:cNvSpPr/>
            <p:nvPr/>
          </p:nvSpPr>
          <p:spPr>
            <a:xfrm>
              <a:off x="0" y="0"/>
              <a:ext cx="10465562" cy="1110615"/>
            </a:xfrm>
            <a:custGeom>
              <a:avLst/>
              <a:gdLst/>
              <a:ahLst/>
              <a:cxnLst/>
              <a:rect l="l" t="t" r="r" b="b"/>
              <a:pathLst>
                <a:path w="10465562" h="111061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10371074" y="0"/>
                  </a:lnTo>
                  <a:cubicBezTo>
                    <a:pt x="10423271" y="0"/>
                    <a:pt x="10465562" y="42291"/>
                    <a:pt x="10465562" y="94488"/>
                  </a:cubicBezTo>
                  <a:lnTo>
                    <a:pt x="10465562" y="1016127"/>
                  </a:lnTo>
                  <a:cubicBezTo>
                    <a:pt x="10465562" y="1068324"/>
                    <a:pt x="10423271" y="1110615"/>
                    <a:pt x="10371074" y="1110615"/>
                  </a:cubicBezTo>
                  <a:lnTo>
                    <a:pt x="94488" y="1110615"/>
                  </a:lnTo>
                  <a:cubicBezTo>
                    <a:pt x="42291" y="1110615"/>
                    <a:pt x="0" y="1068324"/>
                    <a:pt x="0" y="1016127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9" name="Freeform 29" descr="preencoded.png"/>
          <p:cNvSpPr/>
          <p:nvPr/>
        </p:nvSpPr>
        <p:spPr>
          <a:xfrm>
            <a:off x="4834235" y="7057876"/>
            <a:ext cx="416421" cy="416421"/>
          </a:xfrm>
          <a:custGeom>
            <a:avLst/>
            <a:gdLst/>
            <a:ahLst/>
            <a:cxnLst/>
            <a:rect l="l" t="t" r="r" b="b"/>
            <a:pathLst>
              <a:path w="416421" h="416421">
                <a:moveTo>
                  <a:pt x="0" y="0"/>
                </a:moveTo>
                <a:lnTo>
                  <a:pt x="416421" y="0"/>
                </a:lnTo>
                <a:lnTo>
                  <a:pt x="416421" y="416421"/>
                </a:lnTo>
                <a:lnTo>
                  <a:pt x="0" y="41642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t="-7954" b="-7954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0" name="TextBox 30"/>
          <p:cNvSpPr txBox="1"/>
          <p:nvPr/>
        </p:nvSpPr>
        <p:spPr>
          <a:xfrm>
            <a:off x="1395412" y="7926884"/>
            <a:ext cx="2833911" cy="49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98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Gaurang Kumbhar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95413" y="8451056"/>
            <a:ext cx="7294066" cy="4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42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EDA And Model Evaluation</a:t>
            </a:r>
          </a:p>
        </p:txBody>
      </p:sp>
      <p:grpSp>
        <p:nvGrpSpPr>
          <p:cNvPr id="32" name="Group 32"/>
          <p:cNvGrpSpPr/>
          <p:nvPr/>
        </p:nvGrpSpPr>
        <p:grpSpPr>
          <a:xfrm>
            <a:off x="9263657" y="6797279"/>
            <a:ext cx="7963644" cy="2547045"/>
            <a:chOff x="0" y="0"/>
            <a:chExt cx="10618192" cy="3396060"/>
          </a:xfrm>
        </p:grpSpPr>
        <p:sp>
          <p:nvSpPr>
            <p:cNvPr id="33" name="Freeform 33"/>
            <p:cNvSpPr/>
            <p:nvPr/>
          </p:nvSpPr>
          <p:spPr>
            <a:xfrm>
              <a:off x="25400" y="25400"/>
              <a:ext cx="10567416" cy="3345180"/>
            </a:xfrm>
            <a:custGeom>
              <a:avLst/>
              <a:gdLst/>
              <a:ahLst/>
              <a:cxnLst/>
              <a:rect l="l" t="t" r="r" b="b"/>
              <a:pathLst>
                <a:path w="10567416" h="3345180">
                  <a:moveTo>
                    <a:pt x="0" y="155448"/>
                  </a:moveTo>
                  <a:cubicBezTo>
                    <a:pt x="0" y="69596"/>
                    <a:pt x="70358" y="0"/>
                    <a:pt x="157099" y="0"/>
                  </a:cubicBezTo>
                  <a:lnTo>
                    <a:pt x="10410317" y="0"/>
                  </a:lnTo>
                  <a:cubicBezTo>
                    <a:pt x="10497058" y="0"/>
                    <a:pt x="10567416" y="69596"/>
                    <a:pt x="10567416" y="155448"/>
                  </a:cubicBezTo>
                  <a:lnTo>
                    <a:pt x="10567416" y="3189732"/>
                  </a:lnTo>
                  <a:cubicBezTo>
                    <a:pt x="10567416" y="3275584"/>
                    <a:pt x="10497058" y="3345180"/>
                    <a:pt x="10410317" y="3345180"/>
                  </a:cubicBezTo>
                  <a:lnTo>
                    <a:pt x="157099" y="3345180"/>
                  </a:lnTo>
                  <a:cubicBezTo>
                    <a:pt x="70358" y="3345307"/>
                    <a:pt x="0" y="3275584"/>
                    <a:pt x="0" y="3189732"/>
                  </a:cubicBezTo>
                  <a:close/>
                </a:path>
              </a:pathLst>
            </a:custGeom>
            <a:solidFill>
              <a:srgbClr val="09151A">
                <a:alpha val="90196"/>
              </a:srgbClr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Freeform 34"/>
            <p:cNvSpPr/>
            <p:nvPr/>
          </p:nvSpPr>
          <p:spPr>
            <a:xfrm>
              <a:off x="0" y="0"/>
              <a:ext cx="10618216" cy="3395980"/>
            </a:xfrm>
            <a:custGeom>
              <a:avLst/>
              <a:gdLst/>
              <a:ahLst/>
              <a:cxnLst/>
              <a:rect l="l" t="t" r="r" b="b"/>
              <a:pathLst>
                <a:path w="10618216" h="3395980">
                  <a:moveTo>
                    <a:pt x="0" y="180848"/>
                  </a:moveTo>
                  <a:cubicBezTo>
                    <a:pt x="0" y="80772"/>
                    <a:pt x="81915" y="0"/>
                    <a:pt x="182499" y="0"/>
                  </a:cubicBezTo>
                  <a:lnTo>
                    <a:pt x="10435717" y="0"/>
                  </a:lnTo>
                  <a:lnTo>
                    <a:pt x="10435717" y="25400"/>
                  </a:lnTo>
                  <a:lnTo>
                    <a:pt x="10435717" y="0"/>
                  </a:lnTo>
                  <a:cubicBezTo>
                    <a:pt x="10536301" y="0"/>
                    <a:pt x="10618216" y="80772"/>
                    <a:pt x="10618216" y="180848"/>
                  </a:cubicBezTo>
                  <a:lnTo>
                    <a:pt x="10592816" y="180848"/>
                  </a:lnTo>
                  <a:lnTo>
                    <a:pt x="10618216" y="180848"/>
                  </a:lnTo>
                  <a:lnTo>
                    <a:pt x="10618216" y="3215132"/>
                  </a:lnTo>
                  <a:lnTo>
                    <a:pt x="10592816" y="3215132"/>
                  </a:lnTo>
                  <a:lnTo>
                    <a:pt x="10618216" y="3215132"/>
                  </a:lnTo>
                  <a:cubicBezTo>
                    <a:pt x="10618216" y="3315335"/>
                    <a:pt x="10536301" y="3395980"/>
                    <a:pt x="10435717" y="3395980"/>
                  </a:cubicBezTo>
                  <a:lnTo>
                    <a:pt x="10435717" y="3370580"/>
                  </a:lnTo>
                  <a:lnTo>
                    <a:pt x="10435717" y="3395980"/>
                  </a:lnTo>
                  <a:lnTo>
                    <a:pt x="182499" y="3395980"/>
                  </a:lnTo>
                  <a:lnTo>
                    <a:pt x="182499" y="3370580"/>
                  </a:lnTo>
                  <a:lnTo>
                    <a:pt x="182499" y="3395980"/>
                  </a:lnTo>
                  <a:cubicBezTo>
                    <a:pt x="81915" y="3396107"/>
                    <a:pt x="0" y="3315335"/>
                    <a:pt x="0" y="3215132"/>
                  </a:cubicBezTo>
                  <a:lnTo>
                    <a:pt x="0" y="180848"/>
                  </a:lnTo>
                  <a:lnTo>
                    <a:pt x="25400" y="180848"/>
                  </a:lnTo>
                  <a:lnTo>
                    <a:pt x="0" y="180848"/>
                  </a:lnTo>
                  <a:moveTo>
                    <a:pt x="50800" y="180848"/>
                  </a:moveTo>
                  <a:lnTo>
                    <a:pt x="50800" y="3215132"/>
                  </a:lnTo>
                  <a:lnTo>
                    <a:pt x="25400" y="3215132"/>
                  </a:lnTo>
                  <a:lnTo>
                    <a:pt x="50800" y="3215132"/>
                  </a:lnTo>
                  <a:cubicBezTo>
                    <a:pt x="50800" y="3286760"/>
                    <a:pt x="109474" y="3345180"/>
                    <a:pt x="182499" y="3345180"/>
                  </a:cubicBezTo>
                  <a:lnTo>
                    <a:pt x="10435717" y="3345180"/>
                  </a:lnTo>
                  <a:cubicBezTo>
                    <a:pt x="10508742" y="3345180"/>
                    <a:pt x="10567416" y="3286633"/>
                    <a:pt x="10567416" y="3215132"/>
                  </a:cubicBezTo>
                  <a:lnTo>
                    <a:pt x="10567416" y="180848"/>
                  </a:lnTo>
                  <a:cubicBezTo>
                    <a:pt x="10567416" y="109347"/>
                    <a:pt x="10508615" y="50800"/>
                    <a:pt x="10435717" y="50800"/>
                  </a:cubicBezTo>
                  <a:lnTo>
                    <a:pt x="182499" y="50800"/>
                  </a:lnTo>
                  <a:lnTo>
                    <a:pt x="182499" y="25400"/>
                  </a:lnTo>
                  <a:lnTo>
                    <a:pt x="182499" y="50800"/>
                  </a:lnTo>
                  <a:cubicBezTo>
                    <a:pt x="109474" y="50800"/>
                    <a:pt x="50800" y="109347"/>
                    <a:pt x="50800" y="180848"/>
                  </a:cubicBezTo>
                  <a:close/>
                </a:path>
              </a:pathLst>
            </a:custGeom>
            <a:solidFill>
              <a:srgbClr val="194A99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9320807" y="6854429"/>
            <a:ext cx="7849344" cy="832991"/>
            <a:chOff x="0" y="0"/>
            <a:chExt cx="10465792" cy="1110655"/>
          </a:xfrm>
        </p:grpSpPr>
        <p:sp>
          <p:nvSpPr>
            <p:cNvPr id="36" name="Freeform 36"/>
            <p:cNvSpPr/>
            <p:nvPr/>
          </p:nvSpPr>
          <p:spPr>
            <a:xfrm>
              <a:off x="0" y="0"/>
              <a:ext cx="10465689" cy="1110615"/>
            </a:xfrm>
            <a:custGeom>
              <a:avLst/>
              <a:gdLst/>
              <a:ahLst/>
              <a:cxnLst/>
              <a:rect l="l" t="t" r="r" b="b"/>
              <a:pathLst>
                <a:path w="10465689" h="1110615">
                  <a:moveTo>
                    <a:pt x="0" y="94488"/>
                  </a:moveTo>
                  <a:cubicBezTo>
                    <a:pt x="0" y="42291"/>
                    <a:pt x="42291" y="0"/>
                    <a:pt x="94488" y="0"/>
                  </a:cubicBezTo>
                  <a:lnTo>
                    <a:pt x="10371201" y="0"/>
                  </a:lnTo>
                  <a:cubicBezTo>
                    <a:pt x="10423398" y="0"/>
                    <a:pt x="10465689" y="42291"/>
                    <a:pt x="10465689" y="94488"/>
                  </a:cubicBezTo>
                  <a:lnTo>
                    <a:pt x="10465689" y="1016127"/>
                  </a:lnTo>
                  <a:cubicBezTo>
                    <a:pt x="10465689" y="1068324"/>
                    <a:pt x="10423398" y="1110615"/>
                    <a:pt x="10371201" y="1110615"/>
                  </a:cubicBezTo>
                  <a:lnTo>
                    <a:pt x="94488" y="1110615"/>
                  </a:lnTo>
                  <a:cubicBezTo>
                    <a:pt x="42291" y="1110615"/>
                    <a:pt x="0" y="1068324"/>
                    <a:pt x="0" y="1016127"/>
                  </a:cubicBezTo>
                  <a:close/>
                </a:path>
              </a:pathLst>
            </a:custGeom>
            <a:solidFill>
              <a:srgbClr val="003180"/>
            </a:solidFill>
            <a:ln w="12700">
              <a:solidFill>
                <a:srgbClr val="000000"/>
              </a:solidFill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Freeform 37" descr="preencoded.png"/>
          <p:cNvSpPr/>
          <p:nvPr/>
        </p:nvSpPr>
        <p:spPr>
          <a:xfrm>
            <a:off x="13037195" y="7057876"/>
            <a:ext cx="416421" cy="416421"/>
          </a:xfrm>
          <a:custGeom>
            <a:avLst/>
            <a:gdLst/>
            <a:ahLst/>
            <a:cxnLst/>
            <a:rect l="l" t="t" r="r" b="b"/>
            <a:pathLst>
              <a:path w="416421" h="416421">
                <a:moveTo>
                  <a:pt x="0" y="0"/>
                </a:moveTo>
                <a:lnTo>
                  <a:pt x="416421" y="0"/>
                </a:lnTo>
                <a:lnTo>
                  <a:pt x="416421" y="416421"/>
                </a:lnTo>
                <a:lnTo>
                  <a:pt x="0" y="416421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t="-1136" b="-1136"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38" name="TextBox 38"/>
          <p:cNvSpPr txBox="1"/>
          <p:nvPr/>
        </p:nvSpPr>
        <p:spPr>
          <a:xfrm>
            <a:off x="9598373" y="7926884"/>
            <a:ext cx="1464246" cy="4931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51"/>
              </a:lnSpc>
            </a:pPr>
            <a:r>
              <a:rPr lang="en-US" sz="2987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Arin Lale</a:t>
            </a:r>
          </a:p>
        </p:txBody>
      </p:sp>
      <p:sp>
        <p:nvSpPr>
          <p:cNvPr id="39" name="TextBox 39"/>
          <p:cNvSpPr txBox="1"/>
          <p:nvPr/>
        </p:nvSpPr>
        <p:spPr>
          <a:xfrm>
            <a:off x="9598372" y="8451056"/>
            <a:ext cx="7294215" cy="480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2"/>
              </a:lnSpc>
            </a:pPr>
            <a:r>
              <a:rPr lang="en-US" sz="2424">
                <a:solidFill>
                  <a:srgbClr val="E2E6E9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Anomaly Detection, Evaluation &amp; Visualisation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523</Words>
  <Application>Microsoft Macintosh PowerPoint</Application>
  <PresentationFormat>Custom</PresentationFormat>
  <Paragraphs>71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Hybrid-ML-for-AML-Detection.pptx</dc:title>
  <cp:lastModifiedBy>Khushboo Kumari</cp:lastModifiedBy>
  <cp:revision>2</cp:revision>
  <dcterms:created xsi:type="dcterms:W3CDTF">2006-08-16T00:00:00Z</dcterms:created>
  <dcterms:modified xsi:type="dcterms:W3CDTF">2025-12-02T22:03:29Z</dcterms:modified>
  <dc:identifier>DAG6ZaoiP1A</dc:identifier>
</cp:coreProperties>
</file>